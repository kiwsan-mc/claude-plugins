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384048"/>
            <a:ext cx="11064240" cy="18288"/>
          </a:xfrm>
          <a:prstGeom prst="rect">
            <a:avLst/>
          </a:prstGeom>
          <a:solidFill>
            <a:srgbClr val="001245"/>
          </a:solidFill>
          <a:ln w="12700">
            <a:solidFill>
              <a:srgbClr val="001245"/>
            </a:solidFill>
            <a:prstDash val="solid"/>
          </a:ln>
        </p:spPr>
      </p:sp>
      <p:sp>
        <p:nvSpPr>
          <p:cNvPr id="3" name="Text 1"/>
          <p:cNvSpPr txBox="1"/>
          <p:nvPr/>
        </p:nvSpPr>
        <p:spPr>
          <a:xfrm>
            <a:off x="548640" y="548640"/>
            <a:ext cx="11064240" cy="219456"/>
          </a:xfrm>
          <a:prstGeom prst="rect">
            <a:avLst/>
          </a:prstGeom>
          <a:noFill/>
          <a:ln/>
        </p:spPr>
        <p:txBody>
          <a:bodyPr wrap="square" lIns="0" tIns="0" rIns="0" bIns="0" rtlCol="0" anchor="ctr"/>
          <a:lstStyle/>
          <a:p>
            <a:pPr indent="0" marL="0">
              <a:buNone/>
            </a:pPr>
            <a:r>
              <a:rPr lang="en-US" sz="1000" b="1" spc="200" kern="0" dirty="0">
                <a:solidFill>
                  <a:srgbClr val="003DA5"/>
                </a:solidFill>
                <a:latin typeface="Aptos" pitchFamily="34" charset="0"/>
                <a:ea typeface="Aptos" pitchFamily="34" charset="-122"/>
                <a:cs typeface="Aptos" pitchFamily="34" charset="-120"/>
              </a:rPr>
              <a:t>STRATEGY REVIEW</a:t>
            </a:r>
            <a:endParaRPr lang="en-US" sz="1000" dirty="0"/>
          </a:p>
        </p:txBody>
      </p:sp>
      <p:sp>
        <p:nvSpPr>
          <p:cNvPr id="4" name="Text 2"/>
          <p:cNvSpPr txBox="1"/>
          <p:nvPr/>
        </p:nvSpPr>
        <p:spPr>
          <a:xfrm>
            <a:off x="548640" y="868680"/>
            <a:ext cx="11064240" cy="640080"/>
          </a:xfrm>
          <a:prstGeom prst="rect">
            <a:avLst/>
          </a:prstGeom>
          <a:noFill/>
          <a:ln/>
        </p:spPr>
        <p:txBody>
          <a:bodyPr wrap="square" lIns="0" tIns="0" rIns="0" bIns="0" rtlCol="0" anchor="ctr"/>
          <a:lstStyle/>
          <a:p>
            <a:pPr indent="0" marL="0">
              <a:buNone/>
            </a:pPr>
            <a:r>
              <a:rPr lang="en-US" sz="2800" b="1" dirty="0">
                <a:solidFill>
                  <a:srgbClr val="001245"/>
                </a:solidFill>
                <a:latin typeface="Aptos" pitchFamily="34" charset="0"/>
                <a:ea typeface="Aptos" pitchFamily="34" charset="-122"/>
                <a:cs typeface="Aptos" pitchFamily="34" charset="-120"/>
              </a:rPr>
              <a:t>FY27 Performance Snapshot</a:t>
            </a:r>
            <a:endParaRPr lang="en-US" sz="2800" dirty="0"/>
          </a:p>
        </p:txBody>
      </p:sp>
      <p:sp>
        <p:nvSpPr>
          <p:cNvPr id="5" name="Text 3"/>
          <p:cNvSpPr txBox="1"/>
          <p:nvPr/>
        </p:nvSpPr>
        <p:spPr>
          <a:xfrm>
            <a:off x="548640" y="1645920"/>
            <a:ext cx="8778240" cy="2743200"/>
          </a:xfrm>
          <a:prstGeom prst="rect">
            <a:avLst/>
          </a:prstGeom>
          <a:noFill/>
          <a:ln/>
        </p:spPr>
        <p:txBody>
          <a:bodyPr wrap="square" lIns="0" tIns="0" rIns="0" bIns="0" rtlCol="0" anchor="t"/>
          <a:lstStyle/>
          <a:p>
            <a:pPr indent="0" marL="0">
              <a:lnSpc>
                <a:spcPct val="125000"/>
              </a:lnSpc>
              <a:buNone/>
            </a:pPr>
            <a:r>
              <a:rPr lang="en-US" sz="1100" dirty="0">
                <a:solidFill>
                  <a:srgbClr val="151922"/>
                </a:solidFill>
                <a:latin typeface="Aptos" pitchFamily="34" charset="0"/>
                <a:ea typeface="Aptos" pitchFamily="34" charset="-122"/>
                <a:cs typeface="Aptos" pitchFamily="34" charset="-120"/>
              </a:rPr>
              <a:t>Retail sales tracking ahead of plan through the first quarter. Trained 100 employees across 12 teams, with one proof-of-concept project per team and three winning solutions selected for production. The recommendation is to hold the current roadmap and release the second tranche of budget in November.</a:t>
            </a:r>
            <a:endParaRPr lang="en-US" sz="1100" dirty="0"/>
          </a:p>
        </p:txBody>
      </p:sp>
      <p:sp>
        <p:nvSpPr>
          <p:cNvPr id="6" name="Text 4"/>
          <p:cNvSpPr txBox="1"/>
          <p:nvPr/>
        </p:nvSpPr>
        <p:spPr>
          <a:xfrm>
            <a:off x="5486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104%</a:t>
            </a:r>
            <a:endParaRPr lang="en-US" sz="2600" dirty="0"/>
          </a:p>
        </p:txBody>
      </p:sp>
      <p:sp>
        <p:nvSpPr>
          <p:cNvPr id="7" name="Text 5"/>
          <p:cNvSpPr txBox="1"/>
          <p:nvPr/>
        </p:nvSpPr>
        <p:spPr>
          <a:xfrm>
            <a:off x="5486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TARGET ACHIEVED</a:t>
            </a:r>
            <a:endParaRPr lang="en-US" sz="900" dirty="0"/>
          </a:p>
        </p:txBody>
      </p:sp>
      <p:sp>
        <p:nvSpPr>
          <p:cNvPr id="8" name="Shape 6"/>
          <p:cNvSpPr/>
          <p:nvPr/>
        </p:nvSpPr>
        <p:spPr>
          <a:xfrm>
            <a:off x="3351276" y="4709160"/>
            <a:ext cx="9144" cy="685800"/>
          </a:xfrm>
          <a:prstGeom prst="rect">
            <a:avLst/>
          </a:prstGeom>
          <a:solidFill>
            <a:srgbClr val="E8ECF3"/>
          </a:solidFill>
          <a:ln w="12700">
            <a:solidFill>
              <a:srgbClr val="E8ECF3"/>
            </a:solidFill>
            <a:prstDash val="solid"/>
          </a:ln>
        </p:spPr>
      </p:sp>
      <p:sp>
        <p:nvSpPr>
          <p:cNvPr id="9" name="Text 7"/>
          <p:cNvSpPr txBox="1"/>
          <p:nvPr/>
        </p:nvSpPr>
        <p:spPr>
          <a:xfrm>
            <a:off x="35204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100</a:t>
            </a:r>
            <a:endParaRPr lang="en-US" sz="2600" dirty="0"/>
          </a:p>
        </p:txBody>
      </p:sp>
      <p:sp>
        <p:nvSpPr>
          <p:cNvPr id="10" name="Text 8"/>
          <p:cNvSpPr txBox="1"/>
          <p:nvPr/>
        </p:nvSpPr>
        <p:spPr>
          <a:xfrm>
            <a:off x="35204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EMPLOYEES TRAINED</a:t>
            </a:r>
            <a:endParaRPr lang="en-US" sz="900" dirty="0"/>
          </a:p>
        </p:txBody>
      </p:sp>
      <p:sp>
        <p:nvSpPr>
          <p:cNvPr id="11" name="Shape 9"/>
          <p:cNvSpPr/>
          <p:nvPr/>
        </p:nvSpPr>
        <p:spPr>
          <a:xfrm>
            <a:off x="6323076" y="4709160"/>
            <a:ext cx="9144" cy="685800"/>
          </a:xfrm>
          <a:prstGeom prst="rect">
            <a:avLst/>
          </a:prstGeom>
          <a:solidFill>
            <a:srgbClr val="E8ECF3"/>
          </a:solidFill>
          <a:ln w="12700">
            <a:solidFill>
              <a:srgbClr val="E8ECF3"/>
            </a:solidFill>
            <a:prstDash val="solid"/>
          </a:ln>
        </p:spPr>
      </p:sp>
      <p:sp>
        <p:nvSpPr>
          <p:cNvPr id="12" name="Text 10"/>
          <p:cNvSpPr txBox="1"/>
          <p:nvPr/>
        </p:nvSpPr>
        <p:spPr>
          <a:xfrm>
            <a:off x="64922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12</a:t>
            </a:r>
            <a:endParaRPr lang="en-US" sz="2600" dirty="0"/>
          </a:p>
        </p:txBody>
      </p:sp>
      <p:sp>
        <p:nvSpPr>
          <p:cNvPr id="13" name="Text 11"/>
          <p:cNvSpPr txBox="1"/>
          <p:nvPr/>
        </p:nvSpPr>
        <p:spPr>
          <a:xfrm>
            <a:off x="64922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TEAMS ENABLED</a:t>
            </a:r>
            <a:endParaRPr lang="en-US" sz="900" dirty="0"/>
          </a:p>
        </p:txBody>
      </p:sp>
      <p:sp>
        <p:nvSpPr>
          <p:cNvPr id="14" name="Shape 12"/>
          <p:cNvSpPr/>
          <p:nvPr/>
        </p:nvSpPr>
        <p:spPr>
          <a:xfrm>
            <a:off x="9294876" y="4709160"/>
            <a:ext cx="9144" cy="685800"/>
          </a:xfrm>
          <a:prstGeom prst="rect">
            <a:avLst/>
          </a:prstGeom>
          <a:solidFill>
            <a:srgbClr val="E8ECF3"/>
          </a:solidFill>
          <a:ln w="12700">
            <a:solidFill>
              <a:srgbClr val="E8ECF3"/>
            </a:solidFill>
            <a:prstDash val="solid"/>
          </a:ln>
        </p:spPr>
      </p:sp>
      <p:sp>
        <p:nvSpPr>
          <p:cNvPr id="15" name="Text 13"/>
          <p:cNvSpPr txBox="1"/>
          <p:nvPr/>
        </p:nvSpPr>
        <p:spPr>
          <a:xfrm>
            <a:off x="94640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3</a:t>
            </a:r>
            <a:endParaRPr lang="en-US" sz="2600" dirty="0"/>
          </a:p>
        </p:txBody>
      </p:sp>
      <p:sp>
        <p:nvSpPr>
          <p:cNvPr id="16" name="Text 14"/>
          <p:cNvSpPr txBox="1"/>
          <p:nvPr/>
        </p:nvSpPr>
        <p:spPr>
          <a:xfrm>
            <a:off x="94640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WINNING SOLUTIONS</a:t>
            </a:r>
            <a:endParaRPr lang="en-US" sz="900" dirty="0"/>
          </a:p>
        </p:txBody>
      </p:sp>
      <p:sp>
        <p:nvSpPr>
          <p:cNvPr id="17" name="Shape 15"/>
          <p:cNvSpPr/>
          <p:nvPr/>
        </p:nvSpPr>
        <p:spPr>
          <a:xfrm>
            <a:off x="448056" y="6272784"/>
            <a:ext cx="11292840" cy="9144"/>
          </a:xfrm>
          <a:prstGeom prst="rect">
            <a:avLst/>
          </a:prstGeom>
          <a:solidFill>
            <a:srgbClr val="DCE2EC"/>
          </a:solidFill>
          <a:ln w="12700">
            <a:solidFill>
              <a:srgbClr val="DCE2EC"/>
            </a:solidFill>
            <a:prstDash val="solid"/>
          </a:ln>
        </p:spPr>
      </p:sp>
      <p:sp>
        <p:nvSpPr>
          <p:cNvPr id="18" name="Text 16"/>
          <p:cNvSpPr txBox="1"/>
          <p:nvPr/>
        </p:nvSpPr>
        <p:spPr>
          <a:xfrm>
            <a:off x="457200" y="6382512"/>
            <a:ext cx="3657600" cy="146304"/>
          </a:xfrm>
          <a:prstGeom prst="rect">
            <a:avLst/>
          </a:prstGeom>
          <a:noFill/>
          <a:ln/>
        </p:spPr>
        <p:txBody>
          <a:bodyPr wrap="square" lIns="0" tIns="0" rIns="0" bIns="0" rtlCol="0" anchor="ctr"/>
          <a:lstStyle/>
          <a:p>
            <a:pPr indent="0" marL="0">
              <a:buNone/>
            </a:pPr>
            <a:r>
              <a:rPr lang="en-US" sz="700" dirty="0">
                <a:solidFill>
                  <a:srgbClr val="677794"/>
                </a:solidFill>
                <a:latin typeface="Aptos" pitchFamily="34" charset="0"/>
                <a:ea typeface="Aptos" pitchFamily="34" charset="-122"/>
                <a:cs typeface="Aptos" pitchFamily="34" charset="-120"/>
              </a:rPr>
              <a:t>MC GROUP  /  EXECUTIVE BRIEF</a:t>
            </a:r>
            <a:endParaRPr lang="en-US" sz="700" dirty="0"/>
          </a:p>
        </p:txBody>
      </p:sp>
      <p:sp>
        <p:nvSpPr>
          <p:cNvPr id="19" name="Text 17"/>
          <p:cNvSpPr txBox="1"/>
          <p:nvPr/>
        </p:nvSpPr>
        <p:spPr>
          <a:xfrm>
            <a:off x="9144000" y="6382512"/>
            <a:ext cx="2560320" cy="146304"/>
          </a:xfrm>
          <a:prstGeom prst="rect">
            <a:avLst/>
          </a:prstGeom>
          <a:noFill/>
          <a:ln/>
        </p:spPr>
        <p:txBody>
          <a:bodyPr wrap="square" lIns="0" tIns="0" rIns="0" bIns="0" rtlCol="0" anchor="ctr"/>
          <a:lstStyle/>
          <a:p>
            <a:pPr algn="r" indent="0" marL="0">
              <a:buNone/>
            </a:pPr>
            <a:r>
              <a:rPr lang="en-US" sz="700" dirty="0">
                <a:solidFill>
                  <a:srgbClr val="677794"/>
                </a:solidFill>
                <a:latin typeface="Aptos" pitchFamily="34" charset="0"/>
                <a:ea typeface="Aptos" pitchFamily="34" charset="-122"/>
                <a:cs typeface="Aptos" pitchFamily="34" charset="-120"/>
              </a:rPr>
              <a:t>OCT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384048"/>
            <a:ext cx="11064240" cy="18288"/>
          </a:xfrm>
          <a:prstGeom prst="rect">
            <a:avLst/>
          </a:prstGeom>
          <a:solidFill>
            <a:srgbClr val="001245"/>
          </a:solidFill>
          <a:ln w="12700">
            <a:solidFill>
              <a:srgbClr val="001245"/>
            </a:solidFill>
            <a:prstDash val="solid"/>
          </a:ln>
        </p:spPr>
      </p:sp>
      <p:sp>
        <p:nvSpPr>
          <p:cNvPr id="3" name="Text 1"/>
          <p:cNvSpPr txBox="1"/>
          <p:nvPr/>
        </p:nvSpPr>
        <p:spPr>
          <a:xfrm>
            <a:off x="548640" y="548640"/>
            <a:ext cx="11064240" cy="219456"/>
          </a:xfrm>
          <a:prstGeom prst="rect">
            <a:avLst/>
          </a:prstGeom>
          <a:noFill/>
          <a:ln/>
        </p:spPr>
        <p:txBody>
          <a:bodyPr wrap="square" lIns="0" tIns="0" rIns="0" bIns="0" rtlCol="0" anchor="ctr"/>
          <a:lstStyle/>
          <a:p>
            <a:pPr indent="0" marL="0">
              <a:buNone/>
            </a:pPr>
            <a:r>
              <a:rPr lang="en-US" sz="1000" b="1" spc="200" kern="0" dirty="0">
                <a:solidFill>
                  <a:srgbClr val="003DA5"/>
                </a:solidFill>
                <a:latin typeface="Aptos" pitchFamily="34" charset="0"/>
                <a:ea typeface="Aptos" pitchFamily="34" charset="-122"/>
                <a:cs typeface="Aptos" pitchFamily="34" charset="-120"/>
              </a:rPr>
              <a:t>RISKS</a:t>
            </a:r>
            <a:endParaRPr lang="en-US" sz="1000" dirty="0"/>
          </a:p>
        </p:txBody>
      </p:sp>
      <p:sp>
        <p:nvSpPr>
          <p:cNvPr id="4" name="Text 2"/>
          <p:cNvSpPr txBox="1"/>
          <p:nvPr/>
        </p:nvSpPr>
        <p:spPr>
          <a:xfrm>
            <a:off x="548640" y="868680"/>
            <a:ext cx="11064240" cy="640080"/>
          </a:xfrm>
          <a:prstGeom prst="rect">
            <a:avLst/>
          </a:prstGeom>
          <a:noFill/>
          <a:ln/>
        </p:spPr>
        <p:txBody>
          <a:bodyPr wrap="square" lIns="0" tIns="0" rIns="0" bIns="0" rtlCol="0" anchor="ctr"/>
          <a:lstStyle/>
          <a:p>
            <a:pPr indent="0" marL="0">
              <a:buNone/>
            </a:pPr>
            <a:r>
              <a:rPr lang="en-US" sz="2800" b="1" dirty="0">
                <a:solidFill>
                  <a:srgbClr val="001245"/>
                </a:solidFill>
                <a:latin typeface="Aptos" pitchFamily="34" charset="0"/>
                <a:ea typeface="Aptos" pitchFamily="34" charset="-122"/>
                <a:cs typeface="Aptos" pitchFamily="34" charset="-120"/>
              </a:rPr>
              <a:t>What Could Move the Number</a:t>
            </a:r>
            <a:endParaRPr lang="en-US" sz="2800" dirty="0"/>
          </a:p>
        </p:txBody>
      </p:sp>
      <p:sp>
        <p:nvSpPr>
          <p:cNvPr id="5" name="Text 3"/>
          <p:cNvSpPr txBox="1"/>
          <p:nvPr/>
        </p:nvSpPr>
        <p:spPr>
          <a:xfrm>
            <a:off x="548640" y="1645920"/>
            <a:ext cx="8778240" cy="2743200"/>
          </a:xfrm>
          <a:prstGeom prst="rect">
            <a:avLst/>
          </a:prstGeom>
          <a:noFill/>
          <a:ln/>
        </p:spPr>
        <p:txBody>
          <a:bodyPr wrap="square" lIns="0" tIns="0" rIns="0" bIns="0" rtlCol="0" anchor="t"/>
          <a:lstStyle/>
          <a:p>
            <a:pPr indent="0" marL="0">
              <a:lnSpc>
                <a:spcPct val="125000"/>
              </a:lnSpc>
              <a:buNone/>
            </a:pPr>
            <a:r>
              <a:rPr lang="en-US" sz="1100" dirty="0">
                <a:solidFill>
                  <a:srgbClr val="151922"/>
                </a:solidFill>
                <a:latin typeface="Aptos" pitchFamily="34" charset="0"/>
                <a:ea typeface="Aptos" pitchFamily="34" charset="-122"/>
                <a:cs typeface="Aptos" pitchFamily="34" charset="-120"/>
              </a:rPr>
              <a:t>Three items sit on the critical path. First, vendor capacity for the Advance workshop must be confirmed by 1 November. Second, the e-commerce channel mix shifted toward marketplace, which carries a higher commission and compresses margin. Third, two functions have not yet named their executive sponsor, which delays their proof-of-concept kickoff into the next quarter.</a:t>
            </a:r>
            <a:endParaRPr lang="en-US" sz="1100" dirty="0"/>
          </a:p>
        </p:txBody>
      </p:sp>
      <p:sp>
        <p:nvSpPr>
          <p:cNvPr id="6" name="Text 4"/>
          <p:cNvSpPr txBox="1"/>
          <p:nvPr/>
        </p:nvSpPr>
        <p:spPr>
          <a:xfrm>
            <a:off x="5486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1 Nov</a:t>
            </a:r>
            <a:endParaRPr lang="en-US" sz="2600" dirty="0"/>
          </a:p>
        </p:txBody>
      </p:sp>
      <p:sp>
        <p:nvSpPr>
          <p:cNvPr id="7" name="Text 5"/>
          <p:cNvSpPr txBox="1"/>
          <p:nvPr/>
        </p:nvSpPr>
        <p:spPr>
          <a:xfrm>
            <a:off x="5486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VENDOR DEADLINE</a:t>
            </a:r>
            <a:endParaRPr lang="en-US" sz="900" dirty="0"/>
          </a:p>
        </p:txBody>
      </p:sp>
      <p:sp>
        <p:nvSpPr>
          <p:cNvPr id="8" name="Shape 6"/>
          <p:cNvSpPr/>
          <p:nvPr/>
        </p:nvSpPr>
        <p:spPr>
          <a:xfrm>
            <a:off x="3351276" y="4709160"/>
            <a:ext cx="9144" cy="685800"/>
          </a:xfrm>
          <a:prstGeom prst="rect">
            <a:avLst/>
          </a:prstGeom>
          <a:solidFill>
            <a:srgbClr val="E8ECF3"/>
          </a:solidFill>
          <a:ln w="12700">
            <a:solidFill>
              <a:srgbClr val="E8ECF3"/>
            </a:solidFill>
            <a:prstDash val="solid"/>
          </a:ln>
        </p:spPr>
      </p:sp>
      <p:sp>
        <p:nvSpPr>
          <p:cNvPr id="9" name="Text 7"/>
          <p:cNvSpPr txBox="1"/>
          <p:nvPr/>
        </p:nvSpPr>
        <p:spPr>
          <a:xfrm>
            <a:off x="35204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2</a:t>
            </a:r>
            <a:endParaRPr lang="en-US" sz="2600" dirty="0"/>
          </a:p>
        </p:txBody>
      </p:sp>
      <p:sp>
        <p:nvSpPr>
          <p:cNvPr id="10" name="Text 8"/>
          <p:cNvSpPr txBox="1"/>
          <p:nvPr/>
        </p:nvSpPr>
        <p:spPr>
          <a:xfrm>
            <a:off x="35204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FUNCTIONS UNSPONSORED</a:t>
            </a:r>
            <a:endParaRPr lang="en-US" sz="900" dirty="0"/>
          </a:p>
        </p:txBody>
      </p:sp>
      <p:sp>
        <p:nvSpPr>
          <p:cNvPr id="11" name="Shape 9"/>
          <p:cNvSpPr/>
          <p:nvPr/>
        </p:nvSpPr>
        <p:spPr>
          <a:xfrm>
            <a:off x="448056" y="6272784"/>
            <a:ext cx="11292840" cy="9144"/>
          </a:xfrm>
          <a:prstGeom prst="rect">
            <a:avLst/>
          </a:prstGeom>
          <a:solidFill>
            <a:srgbClr val="DCE2EC"/>
          </a:solidFill>
          <a:ln w="12700">
            <a:solidFill>
              <a:srgbClr val="DCE2EC"/>
            </a:solidFill>
            <a:prstDash val="solid"/>
          </a:ln>
        </p:spPr>
      </p:sp>
      <p:sp>
        <p:nvSpPr>
          <p:cNvPr id="12" name="Text 10"/>
          <p:cNvSpPr txBox="1"/>
          <p:nvPr/>
        </p:nvSpPr>
        <p:spPr>
          <a:xfrm>
            <a:off x="457200" y="6382512"/>
            <a:ext cx="3657600" cy="146304"/>
          </a:xfrm>
          <a:prstGeom prst="rect">
            <a:avLst/>
          </a:prstGeom>
          <a:noFill/>
          <a:ln/>
        </p:spPr>
        <p:txBody>
          <a:bodyPr wrap="square" lIns="0" tIns="0" rIns="0" bIns="0" rtlCol="0" anchor="ctr"/>
          <a:lstStyle/>
          <a:p>
            <a:pPr indent="0" marL="0">
              <a:buNone/>
            </a:pPr>
            <a:r>
              <a:rPr lang="en-US" sz="700" dirty="0">
                <a:solidFill>
                  <a:srgbClr val="677794"/>
                </a:solidFill>
                <a:latin typeface="Aptos" pitchFamily="34" charset="0"/>
                <a:ea typeface="Aptos" pitchFamily="34" charset="-122"/>
                <a:cs typeface="Aptos" pitchFamily="34" charset="-120"/>
              </a:rPr>
              <a:t>MC GROUP  /  EXECUTIVE BRIEF</a:t>
            </a:r>
            <a:endParaRPr lang="en-US" sz="700" dirty="0"/>
          </a:p>
        </p:txBody>
      </p:sp>
      <p:sp>
        <p:nvSpPr>
          <p:cNvPr id="13" name="Text 11"/>
          <p:cNvSpPr txBox="1"/>
          <p:nvPr/>
        </p:nvSpPr>
        <p:spPr>
          <a:xfrm>
            <a:off x="9144000" y="6382512"/>
            <a:ext cx="2560320" cy="146304"/>
          </a:xfrm>
          <a:prstGeom prst="rect">
            <a:avLst/>
          </a:prstGeom>
          <a:noFill/>
          <a:ln/>
        </p:spPr>
        <p:txBody>
          <a:bodyPr wrap="square" lIns="0" tIns="0" rIns="0" bIns="0" rtlCol="0" anchor="ctr"/>
          <a:lstStyle/>
          <a:p>
            <a:pPr algn="r" indent="0" marL="0">
              <a:buNone/>
            </a:pPr>
            <a:r>
              <a:rPr lang="en-US" sz="700" dirty="0">
                <a:solidFill>
                  <a:srgbClr val="677794"/>
                </a:solidFill>
                <a:latin typeface="Aptos" pitchFamily="34" charset="0"/>
                <a:ea typeface="Aptos" pitchFamily="34" charset="-122"/>
                <a:cs typeface="Aptos" pitchFamily="34" charset="-120"/>
              </a:rPr>
              <a:t>OCT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245"/>
        </a:solidFill>
      </p:bgPr>
    </p:bg>
    <p:spTree>
      <p:nvGrpSpPr>
        <p:cNvPr id="1" name=""/>
        <p:cNvGrpSpPr/>
        <p:nvPr/>
      </p:nvGrpSpPr>
      <p:grpSpPr>
        <a:xfrm>
          <a:off x="0" y="0"/>
          <a:ext cx="0" cy="0"/>
          <a:chOff x="0" y="0"/>
          <a:chExt cx="0" cy="0"/>
        </a:xfrm>
      </p:grpSpPr>
      <p:sp>
        <p:nvSpPr>
          <p:cNvPr id="2" name="Shape 0"/>
          <p:cNvSpPr/>
          <p:nvPr/>
        </p:nvSpPr>
        <p:spPr>
          <a:xfrm>
            <a:off x="0" y="384048"/>
            <a:ext cx="11064240" cy="18288"/>
          </a:xfrm>
          <a:prstGeom prst="rect">
            <a:avLst/>
          </a:prstGeom>
          <a:solidFill>
            <a:srgbClr val="001245"/>
          </a:solidFill>
          <a:ln w="12700">
            <a:solidFill>
              <a:srgbClr val="001245"/>
            </a:solidFill>
            <a:prstDash val="solid"/>
          </a:ln>
        </p:spPr>
      </p:sp>
      <p:sp>
        <p:nvSpPr>
          <p:cNvPr id="3" name="Text 1"/>
          <p:cNvSpPr txBox="1"/>
          <p:nvPr/>
        </p:nvSpPr>
        <p:spPr>
          <a:xfrm>
            <a:off x="548640" y="548640"/>
            <a:ext cx="11064240" cy="219456"/>
          </a:xfrm>
          <a:prstGeom prst="rect">
            <a:avLst/>
          </a:prstGeom>
          <a:noFill/>
          <a:ln/>
        </p:spPr>
        <p:txBody>
          <a:bodyPr wrap="square" lIns="0" tIns="0" rIns="0" bIns="0" rtlCol="0" anchor="ctr"/>
          <a:lstStyle/>
          <a:p>
            <a:pPr indent="0" marL="0">
              <a:buNone/>
            </a:pPr>
            <a:r>
              <a:rPr lang="en-US" sz="1000" b="1" spc="200" kern="0" dirty="0">
                <a:solidFill>
                  <a:srgbClr val="003DA5"/>
                </a:solidFill>
                <a:latin typeface="Aptos" pitchFamily="34" charset="0"/>
                <a:ea typeface="Aptos" pitchFamily="34" charset="-122"/>
                <a:cs typeface="Aptos" pitchFamily="34" charset="-120"/>
              </a:rPr>
              <a:t>DECISION REQUESTED</a:t>
            </a:r>
            <a:endParaRPr lang="en-US" sz="1000" dirty="0"/>
          </a:p>
        </p:txBody>
      </p:sp>
      <p:sp>
        <p:nvSpPr>
          <p:cNvPr id="4" name="Text 2"/>
          <p:cNvSpPr txBox="1"/>
          <p:nvPr/>
        </p:nvSpPr>
        <p:spPr>
          <a:xfrm>
            <a:off x="548640" y="868680"/>
            <a:ext cx="11064240" cy="640080"/>
          </a:xfrm>
          <a:prstGeom prst="rect">
            <a:avLst/>
          </a:prstGeom>
          <a:noFill/>
          <a:ln/>
        </p:spPr>
        <p:txBody>
          <a:bodyPr wrap="square" lIns="0" tIns="0" rIns="0" bIns="0" rtlCol="0" anchor="ctr"/>
          <a:lstStyle/>
          <a:p>
            <a:pPr indent="0" marL="0">
              <a:buNone/>
            </a:pPr>
            <a:r>
              <a:rPr lang="en-US" sz="2800" b="1" dirty="0">
                <a:solidFill>
                  <a:srgbClr val="FFFFFF"/>
                </a:solidFill>
                <a:latin typeface="Aptos" pitchFamily="34" charset="0"/>
                <a:ea typeface="Aptos" pitchFamily="34" charset="-122"/>
                <a:cs typeface="Aptos" pitchFamily="34" charset="-120"/>
              </a:rPr>
              <a:t>Approve the Second Tranche</a:t>
            </a:r>
            <a:endParaRPr lang="en-US" sz="2800" dirty="0"/>
          </a:p>
        </p:txBody>
      </p:sp>
      <p:sp>
        <p:nvSpPr>
          <p:cNvPr id="5" name="Text 3"/>
          <p:cNvSpPr txBox="1"/>
          <p:nvPr/>
        </p:nvSpPr>
        <p:spPr>
          <a:xfrm>
            <a:off x="548640" y="1645920"/>
            <a:ext cx="8778240" cy="2743200"/>
          </a:xfrm>
          <a:prstGeom prst="rect">
            <a:avLst/>
          </a:prstGeom>
          <a:noFill/>
          <a:ln/>
        </p:spPr>
        <p:txBody>
          <a:bodyPr wrap="square" lIns="0" tIns="0" rIns="0" bIns="0" rtlCol="0" anchor="t"/>
          <a:lstStyle/>
          <a:p>
            <a:pPr indent="0" marL="0">
              <a:lnSpc>
                <a:spcPct val="125000"/>
              </a:lnSpc>
              <a:buNone/>
            </a:pPr>
            <a:r>
              <a:rPr lang="en-US" sz="1100" dirty="0">
                <a:solidFill>
                  <a:srgbClr val="FFFFFF"/>
                </a:solidFill>
                <a:latin typeface="Aptos" pitchFamily="34" charset="0"/>
                <a:ea typeface="Aptos" pitchFamily="34" charset="-122"/>
                <a:cs typeface="Aptos" pitchFamily="34" charset="-120"/>
              </a:rPr>
              <a:t>The executive is asked to approve the second budget tranche and to confirm one sponsor per function. Approval this week keeps the Advance workshop on schedule and holds the savings captured in the vendor comparison.</a:t>
            </a:r>
            <a:endParaRPr lang="en-US" sz="1100" dirty="0"/>
          </a:p>
        </p:txBody>
      </p:sp>
      <p:sp>
        <p:nvSpPr>
          <p:cNvPr id="6" name="Text 4"/>
          <p:cNvSpPr txBox="1"/>
          <p:nvPr/>
        </p:nvSpPr>
        <p:spPr>
          <a:xfrm>
            <a:off x="5486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80,500</a:t>
            </a:r>
            <a:endParaRPr lang="en-US" sz="2600" dirty="0"/>
          </a:p>
        </p:txBody>
      </p:sp>
      <p:sp>
        <p:nvSpPr>
          <p:cNvPr id="7" name="Text 5"/>
          <p:cNvSpPr txBox="1"/>
          <p:nvPr/>
        </p:nvSpPr>
        <p:spPr>
          <a:xfrm>
            <a:off x="5486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THB SAVED</a:t>
            </a:r>
            <a:endParaRPr lang="en-US" sz="900" dirty="0"/>
          </a:p>
        </p:txBody>
      </p:sp>
      <p:sp>
        <p:nvSpPr>
          <p:cNvPr id="8" name="Shape 6"/>
          <p:cNvSpPr/>
          <p:nvPr/>
        </p:nvSpPr>
        <p:spPr>
          <a:xfrm>
            <a:off x="3351276" y="4709160"/>
            <a:ext cx="9144" cy="685800"/>
          </a:xfrm>
          <a:prstGeom prst="rect">
            <a:avLst/>
          </a:prstGeom>
          <a:solidFill>
            <a:srgbClr val="E8ECF3"/>
          </a:solidFill>
          <a:ln w="12700">
            <a:solidFill>
              <a:srgbClr val="E8ECF3"/>
            </a:solidFill>
            <a:prstDash val="solid"/>
          </a:ln>
        </p:spPr>
      </p:sp>
      <p:sp>
        <p:nvSpPr>
          <p:cNvPr id="9" name="Text 7"/>
          <p:cNvSpPr txBox="1"/>
          <p:nvPr/>
        </p:nvSpPr>
        <p:spPr>
          <a:xfrm>
            <a:off x="3520440" y="4709160"/>
            <a:ext cx="2651760" cy="457200"/>
          </a:xfrm>
          <a:prstGeom prst="rect">
            <a:avLst/>
          </a:prstGeom>
          <a:noFill/>
          <a:ln/>
        </p:spPr>
        <p:txBody>
          <a:bodyPr wrap="square" lIns="0" tIns="0" rIns="0" bIns="0" rtlCol="0" anchor="ctr"/>
          <a:lstStyle/>
          <a:p>
            <a:pPr indent="0" marL="0">
              <a:buNone/>
            </a:pPr>
            <a:r>
              <a:rPr lang="en-US" sz="2600" b="1" dirty="0">
                <a:solidFill>
                  <a:srgbClr val="001245"/>
                </a:solidFill>
                <a:latin typeface="Aptos" pitchFamily="34" charset="0"/>
                <a:ea typeface="Aptos" pitchFamily="34" charset="-122"/>
                <a:cs typeface="Aptos" pitchFamily="34" charset="-120"/>
              </a:rPr>
              <a:t>16.6%</a:t>
            </a:r>
            <a:endParaRPr lang="en-US" sz="2600" dirty="0"/>
          </a:p>
        </p:txBody>
      </p:sp>
      <p:sp>
        <p:nvSpPr>
          <p:cNvPr id="10" name="Text 8"/>
          <p:cNvSpPr txBox="1"/>
          <p:nvPr/>
        </p:nvSpPr>
        <p:spPr>
          <a:xfrm>
            <a:off x="3520440" y="5184648"/>
            <a:ext cx="2651760" cy="182880"/>
          </a:xfrm>
          <a:prstGeom prst="rect">
            <a:avLst/>
          </a:prstGeom>
          <a:noFill/>
          <a:ln/>
        </p:spPr>
        <p:txBody>
          <a:bodyPr wrap="square" lIns="0" tIns="0" rIns="0" bIns="0" rtlCol="0" anchor="ctr"/>
          <a:lstStyle/>
          <a:p>
            <a:pPr indent="0" marL="0">
              <a:buNone/>
            </a:pPr>
            <a:r>
              <a:rPr lang="en-US" sz="900" b="1" spc="100" kern="0" dirty="0">
                <a:solidFill>
                  <a:srgbClr val="677794"/>
                </a:solidFill>
                <a:latin typeface="Aptos" pitchFamily="34" charset="0"/>
                <a:ea typeface="Aptos" pitchFamily="34" charset="-122"/>
                <a:cs typeface="Aptos" pitchFamily="34" charset="-120"/>
              </a:rPr>
              <a:t>BELOW BASE PROPOSAL</a:t>
            </a:r>
            <a:endParaRPr lang="en-US" sz="900" dirty="0"/>
          </a:p>
        </p:txBody>
      </p:sp>
      <p:sp>
        <p:nvSpPr>
          <p:cNvPr id="11" name="Shape 9"/>
          <p:cNvSpPr/>
          <p:nvPr/>
        </p:nvSpPr>
        <p:spPr>
          <a:xfrm>
            <a:off x="448056" y="6272784"/>
            <a:ext cx="11292840" cy="9144"/>
          </a:xfrm>
          <a:prstGeom prst="rect">
            <a:avLst/>
          </a:prstGeom>
          <a:solidFill>
            <a:srgbClr val="142A60"/>
          </a:solidFill>
          <a:ln w="12700">
            <a:solidFill>
              <a:srgbClr val="142A60"/>
            </a:solidFill>
            <a:prstDash val="solid"/>
          </a:ln>
        </p:spPr>
      </p:sp>
      <p:sp>
        <p:nvSpPr>
          <p:cNvPr id="12" name="Text 10"/>
          <p:cNvSpPr txBox="1"/>
          <p:nvPr/>
        </p:nvSpPr>
        <p:spPr>
          <a:xfrm>
            <a:off x="457200" y="6382512"/>
            <a:ext cx="3657600" cy="146304"/>
          </a:xfrm>
          <a:prstGeom prst="rect">
            <a:avLst/>
          </a:prstGeom>
          <a:noFill/>
          <a:ln/>
        </p:spPr>
        <p:txBody>
          <a:bodyPr wrap="square" lIns="0" tIns="0" rIns="0" bIns="0" rtlCol="0" anchor="ctr"/>
          <a:lstStyle/>
          <a:p>
            <a:pPr indent="0" marL="0">
              <a:buNone/>
            </a:pPr>
            <a:r>
              <a:rPr lang="en-US" sz="700" dirty="0">
                <a:solidFill>
                  <a:srgbClr val="FFFFFF"/>
                </a:solidFill>
                <a:latin typeface="Aptos" pitchFamily="34" charset="0"/>
                <a:ea typeface="Aptos" pitchFamily="34" charset="-122"/>
                <a:cs typeface="Aptos" pitchFamily="34" charset="-120"/>
              </a:rPr>
              <a:t>MC GROUP  /  EXECUTIVE BRIEF</a:t>
            </a:r>
            <a:endParaRPr lang="en-US" sz="700" dirty="0"/>
          </a:p>
        </p:txBody>
      </p:sp>
      <p:sp>
        <p:nvSpPr>
          <p:cNvPr id="13" name="Text 11"/>
          <p:cNvSpPr txBox="1"/>
          <p:nvPr/>
        </p:nvSpPr>
        <p:spPr>
          <a:xfrm>
            <a:off x="9144000" y="6382512"/>
            <a:ext cx="2560320" cy="146304"/>
          </a:xfrm>
          <a:prstGeom prst="rect">
            <a:avLst/>
          </a:prstGeom>
          <a:noFill/>
          <a:ln/>
        </p:spPr>
        <p:txBody>
          <a:bodyPr wrap="square" lIns="0" tIns="0" rIns="0" bIns="0" rtlCol="0" anchor="ctr"/>
          <a:lstStyle/>
          <a:p>
            <a:pPr algn="r" indent="0" marL="0">
              <a:buNone/>
            </a:pPr>
            <a:r>
              <a:rPr lang="en-US" sz="700" dirty="0">
                <a:solidFill>
                  <a:srgbClr val="FFFFFF"/>
                </a:solidFill>
                <a:latin typeface="Aptos" pitchFamily="34" charset="0"/>
                <a:ea typeface="Aptos" pitchFamily="34" charset="-122"/>
                <a:cs typeface="Aptos" pitchFamily="34" charset="-120"/>
              </a:rPr>
              <a:t>OCT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MC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Brief Demo</dc:title>
  <dc:subject>PptxGenJS Presentation</dc:subject>
  <dc:creator>MC GROUP</dc:creator>
  <cp:lastModifiedBy>MC GROUP</cp:lastModifiedBy>
  <cp:revision>1</cp:revision>
  <dcterms:created xsi:type="dcterms:W3CDTF">2026-10-16T03:23:33Z</dcterms:created>
  <dcterms:modified xsi:type="dcterms:W3CDTF">2026-10-16T03:23:33Z</dcterms:modified>
</cp:coreProperties>
</file>